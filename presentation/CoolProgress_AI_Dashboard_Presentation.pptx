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C1E3A"/>
            </a:gs>
            <a:gs pos="100000">
              <a:srgbClr val="1A3F7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600200" cy="320040"/>
          </a:xfrm>
          <a:prstGeom prst="roundRect">
            <a:avLst/>
          </a:prstGeom>
          <a:solidFill>
            <a:srgbClr val="0E2B52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21207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7E8F9"/>
                </a:solidFill>
                <a:latin typeface="Calibri"/>
              </a:defRPr>
            </a:pPr>
            <a:r>
              <a:t>AI-BUILT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CoolProgress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C5FD"/>
                </a:solidFill>
                <a:latin typeface="Calibri"/>
              </a:defRPr>
            </a:pPr>
            <a:r>
              <a:t>A full-stack data platform tracking the global cooling transition — built entirely with AI assistance in a fraction of traditional development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2331720" cy="123444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1A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D3E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D1D5DB"/>
                </a:solidFill>
                <a:latin typeface="Calibri"/>
              </a:defRPr>
            </a:pPr>
            <a:r>
              <a:t>Interactive data pillars</a:t>
            </a:r>
            <a:br/>
            <a:r>
              <a:t>(Emissions, MEPS, Kigali, Access,</a:t>
            </a:r>
            <a:br/>
            <a:r>
              <a:t>Policy, Partners, Overview)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651760"/>
            <a:ext cx="2331720" cy="123444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1A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788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D3EE"/>
                </a:solidFill>
                <a:latin typeface="Calibri"/>
              </a:defRPr>
            </a:pPr>
            <a:r>
              <a:t>10+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246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D1D5DB"/>
                </a:solidFill>
                <a:latin typeface="Calibri"/>
              </a:defRPr>
            </a:pPr>
            <a:r>
              <a:t>Global partner data sources</a:t>
            </a:r>
            <a:br/>
            <a:r>
              <a:t>integrated (CLASP, IEA,</a:t>
            </a:r>
            <a:br/>
            <a:r>
              <a:t>SE4ALL, UNEP...)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2331720" cy="123444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1A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ADE80"/>
                </a:solidFill>
                <a:latin typeface="Calibri"/>
              </a:defRPr>
            </a:pPr>
            <a:r>
              <a:t>150K+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D1D5DB"/>
                </a:solidFill>
                <a:latin typeface="Calibri"/>
              </a:defRPr>
            </a:pPr>
            <a:r>
              <a:t>Data records powering</a:t>
            </a:r>
            <a:br/>
            <a:r>
              <a:t>interactive maps, charts,</a:t>
            </a:r>
            <a:br/>
            <a:r>
              <a:t>and country profiles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4023360"/>
            <a:ext cx="2331720" cy="123444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1A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41605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ADE80"/>
                </a:solidFill>
                <a:latin typeface="Calibri"/>
              </a:defRPr>
            </a:pPr>
            <a:r>
              <a:t>190+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6177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D1D5DB"/>
                </a:solidFill>
                <a:latin typeface="Calibri"/>
              </a:defRPr>
            </a:pPr>
            <a:r>
              <a:t>Countries covered with</a:t>
            </a:r>
            <a:br/>
            <a:r>
              <a:t>filtering by region, scenario,</a:t>
            </a:r>
            <a:br/>
            <a:r>
              <a:t>and year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40680"/>
            <a:ext cx="868680" cy="274320"/>
          </a:xfrm>
          <a:prstGeom prst="roundRect">
            <a:avLst/>
          </a:prstGeom>
          <a:solidFill>
            <a:srgbClr val="122244"/>
          </a:solidFill>
          <a:ln w="6350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44068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1D5DB"/>
                </a:solidFill>
                <a:latin typeface="Calibri"/>
              </a:defRPr>
            </a:pPr>
            <a:r>
              <a:t>SvelteKit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5440680"/>
            <a:ext cx="868680" cy="274320"/>
          </a:xfrm>
          <a:prstGeom prst="roundRect">
            <a:avLst/>
          </a:prstGeom>
          <a:solidFill>
            <a:srgbClr val="122244"/>
          </a:solidFill>
          <a:ln w="6350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544068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1D5DB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5440680"/>
            <a:ext cx="868680" cy="274320"/>
          </a:xfrm>
          <a:prstGeom prst="roundRect">
            <a:avLst/>
          </a:prstGeom>
          <a:solidFill>
            <a:srgbClr val="122244"/>
          </a:solidFill>
          <a:ln w="6350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544068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1D5DB"/>
                </a:solidFill>
                <a:latin typeface="Calibri"/>
              </a:defRPr>
            </a:pPr>
            <a:r>
              <a:t>ECharts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5440680"/>
            <a:ext cx="868680" cy="274320"/>
          </a:xfrm>
          <a:prstGeom prst="roundRect">
            <a:avLst/>
          </a:prstGeom>
          <a:solidFill>
            <a:srgbClr val="122244"/>
          </a:solidFill>
          <a:ln w="6350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544068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1D5DB"/>
                </a:solidFill>
                <a:latin typeface="Calibri"/>
              </a:defRPr>
            </a:pPr>
            <a:r>
              <a:t>D3.js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5440680"/>
            <a:ext cx="868680" cy="274320"/>
          </a:xfrm>
          <a:prstGeom prst="roundRect">
            <a:avLst/>
          </a:prstGeom>
          <a:solidFill>
            <a:srgbClr val="122244"/>
          </a:solidFill>
          <a:ln w="6350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544068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1D5DB"/>
                </a:solidFill>
                <a:latin typeface="Calibri"/>
              </a:defRPr>
            </a:pPr>
            <a:r>
              <a:t>Supabase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5440680"/>
            <a:ext cx="868680" cy="274320"/>
          </a:xfrm>
          <a:prstGeom prst="roundRect">
            <a:avLst/>
          </a:prstGeom>
          <a:solidFill>
            <a:srgbClr val="122244"/>
          </a:solidFill>
          <a:ln w="6350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544068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1D5DB"/>
                </a:solidFill>
                <a:latin typeface="Calibri"/>
              </a:defRPr>
            </a:pPr>
            <a:r>
              <a:t>Cloudflare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457200"/>
            <a:ext cx="5760720" cy="5989320"/>
          </a:xfrm>
          <a:prstGeom prst="roundRect">
            <a:avLst/>
          </a:prstGeom>
          <a:solidFill>
            <a:srgbClr val="0A1630"/>
          </a:solidFill>
          <a:ln w="19050">
            <a:solidFill>
              <a:srgbClr val="1A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457200"/>
            <a:ext cx="5760720" cy="365760"/>
          </a:xfrm>
          <a:prstGeom prst="rect">
            <a:avLst/>
          </a:prstGeom>
          <a:solidFill>
            <a:srgbClr val="081024"/>
          </a:solidFill>
          <a:ln w="6350">
            <a:solidFill>
              <a:srgbClr val="1A2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17920" y="56692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19088" y="566928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20256" y="566928"/>
            <a:ext cx="137160" cy="1371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63640" y="1005840"/>
            <a:ext cx="1097280" cy="777240"/>
          </a:xfrm>
          <a:prstGeom prst="roundRect">
            <a:avLst/>
          </a:prstGeom>
          <a:solidFill>
            <a:srgbClr val="122244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10789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D1D5DB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1005840"/>
            <a:ext cx="1097280" cy="777240"/>
          </a:xfrm>
          <a:prstGeom prst="roundRect">
            <a:avLst/>
          </a:prstGeom>
          <a:solidFill>
            <a:srgbClr val="122244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10789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D1D5DB"/>
                </a:solidFill>
                <a:latin typeface="Calibri"/>
              </a:defRPr>
            </a:pPr>
            <a:r>
              <a:t>Emissions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29800" y="1005840"/>
            <a:ext cx="1097280" cy="777240"/>
          </a:xfrm>
          <a:prstGeom prst="roundRect">
            <a:avLst/>
          </a:prstGeom>
          <a:solidFill>
            <a:srgbClr val="122244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29800" y="10789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D1D5DB"/>
                </a:solidFill>
                <a:latin typeface="Calibri"/>
              </a:defRPr>
            </a:pPr>
            <a:r>
              <a:t>MEPS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1920240"/>
            <a:ext cx="1097280" cy="777240"/>
          </a:xfrm>
          <a:prstGeom prst="roundRect">
            <a:avLst/>
          </a:prstGeom>
          <a:solidFill>
            <a:srgbClr val="122244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19933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❄️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3591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D1D5DB"/>
                </a:solidFill>
                <a:latin typeface="Calibri"/>
              </a:defRPr>
            </a:pPr>
            <a:r>
              <a:t>Kigali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1920240"/>
            <a:ext cx="1097280" cy="777240"/>
          </a:xfrm>
          <a:prstGeom prst="roundRect">
            <a:avLst/>
          </a:prstGeom>
          <a:solidFill>
            <a:srgbClr val="122244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0" y="19933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23591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D1D5DB"/>
                </a:solidFill>
                <a:latin typeface="Calibri"/>
              </a:defRPr>
            </a:pPr>
            <a:r>
              <a:t>Access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29800" y="1920240"/>
            <a:ext cx="1097280" cy="777240"/>
          </a:xfrm>
          <a:prstGeom prst="roundRect">
            <a:avLst/>
          </a:prstGeom>
          <a:solidFill>
            <a:srgbClr val="122244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29800" y="19933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9800" y="23591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D1D5DB"/>
                </a:solidFill>
                <a:latin typeface="Calibri"/>
              </a:defRPr>
            </a:pPr>
            <a:r>
              <a:t>Policy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2971800"/>
            <a:ext cx="5303520" cy="1463040"/>
          </a:xfrm>
          <a:prstGeom prst="roundRect">
            <a:avLst/>
          </a:prstGeom>
          <a:solidFill>
            <a:srgbClr val="0E1A36"/>
          </a:solidFill>
          <a:ln w="6350">
            <a:solidFill>
              <a:srgbClr val="1A2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3063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9CA3AF"/>
                </a:solidFill>
                <a:latin typeface="Calibri"/>
              </a:defRPr>
            </a:pPr>
            <a:r>
              <a:t>GLOBAL AC STOCK PROJECTION (BILLIONS)</a:t>
            </a:r>
          </a:p>
        </p:txBody>
      </p:sp>
      <p:sp>
        <p:nvSpPr>
          <p:cNvPr id="56" name="Oval 55"/>
          <p:cNvSpPr/>
          <p:nvPr/>
        </p:nvSpPr>
        <p:spPr>
          <a:xfrm>
            <a:off x="6537960" y="4434840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45720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CA3AF"/>
                </a:solidFill>
                <a:latin typeface="Calibri"/>
              </a:defRPr>
            </a:pPr>
            <a:r>
              <a:t>1990</a:t>
            </a:r>
          </a:p>
        </p:txBody>
      </p:sp>
      <p:sp>
        <p:nvSpPr>
          <p:cNvPr id="58" name="Oval 57"/>
          <p:cNvSpPr/>
          <p:nvPr/>
        </p:nvSpPr>
        <p:spPr>
          <a:xfrm>
            <a:off x="7635240" y="4343400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80" y="44805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CA3AF"/>
                </a:solidFill>
                <a:latin typeface="Calibri"/>
              </a:defRPr>
            </a:pPr>
            <a:r>
              <a:t>2000</a:t>
            </a:r>
          </a:p>
        </p:txBody>
      </p:sp>
      <p:sp>
        <p:nvSpPr>
          <p:cNvPr id="60" name="Oval 59"/>
          <p:cNvSpPr/>
          <p:nvPr/>
        </p:nvSpPr>
        <p:spPr>
          <a:xfrm>
            <a:off x="8915400" y="4069080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78240" y="4206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CA3AF"/>
                </a:solidFill>
                <a:latin typeface="Calibri"/>
              </a:defRPr>
            </a:pPr>
            <a:r>
              <a:t>2020</a:t>
            </a:r>
          </a:p>
        </p:txBody>
      </p:sp>
      <p:sp>
        <p:nvSpPr>
          <p:cNvPr id="62" name="Oval 61"/>
          <p:cNvSpPr/>
          <p:nvPr/>
        </p:nvSpPr>
        <p:spPr>
          <a:xfrm>
            <a:off x="10195560" y="3703320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58399" y="38404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CA3AF"/>
                </a:solidFill>
                <a:latin typeface="Calibri"/>
              </a:defRPr>
            </a:pPr>
            <a:r>
              <a:t>2035</a:t>
            </a:r>
          </a:p>
        </p:txBody>
      </p:sp>
      <p:sp>
        <p:nvSpPr>
          <p:cNvPr id="64" name="Oval 63"/>
          <p:cNvSpPr/>
          <p:nvPr/>
        </p:nvSpPr>
        <p:spPr>
          <a:xfrm>
            <a:off x="11201400" y="3474720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064240" y="36118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CA3AF"/>
                </a:solidFill>
                <a:latin typeface="Calibri"/>
              </a:defRPr>
            </a:pPr>
            <a:r>
              <a:t>2050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27080" y="3200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"/>
              </a:defRPr>
            </a:pPr>
            <a:r>
              <a:t>6.5B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6592824" y="4398264"/>
            <a:ext cx="1097280" cy="9144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690104" y="4123944"/>
            <a:ext cx="1280160" cy="27432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970264" y="3758184"/>
            <a:ext cx="1280160" cy="36576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50424" y="3529584"/>
            <a:ext cx="1005840" cy="22860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6263640" y="4617720"/>
            <a:ext cx="1463040" cy="777240"/>
          </a:xfrm>
          <a:prstGeom prst="roundRect">
            <a:avLst/>
          </a:prstGeom>
          <a:solidFill>
            <a:srgbClr val="122244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55080" y="4690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9CA3AF"/>
                </a:solidFill>
                <a:latin typeface="Calibri"/>
              </a:defRPr>
            </a:pPr>
            <a:r>
              <a:t>EMISSIONS BAU 2050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55080" y="49377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7171"/>
                </a:solidFill>
                <a:latin typeface="Calibri"/>
              </a:defRPr>
            </a:pPr>
            <a:r>
              <a:t>6,009 Mt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955280" y="4617720"/>
            <a:ext cx="1463040" cy="777240"/>
          </a:xfrm>
          <a:prstGeom prst="roundRect">
            <a:avLst/>
          </a:prstGeom>
          <a:solidFill>
            <a:srgbClr val="122244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46720" y="4690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9CA3AF"/>
                </a:solidFill>
                <a:latin typeface="Calibri"/>
              </a:defRPr>
            </a:pPr>
            <a:r>
              <a:t>EMISSIONS DECARB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46720" y="49377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DE80"/>
                </a:solidFill>
                <a:latin typeface="Calibri"/>
              </a:defRPr>
            </a:pPr>
            <a:r>
              <a:t>1,554 Mt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646920" y="4617720"/>
            <a:ext cx="1463040" cy="777240"/>
          </a:xfrm>
          <a:prstGeom prst="roundRect">
            <a:avLst/>
          </a:prstGeom>
          <a:solidFill>
            <a:srgbClr val="122244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38360" y="4690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9CA3AF"/>
                </a:solidFill>
                <a:latin typeface="Calibri"/>
              </a:defRPr>
            </a:pPr>
            <a:r>
              <a:t>POTENTIAL CUT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38360" y="49377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D3EE"/>
                </a:solidFill>
                <a:latin typeface="Calibri"/>
              </a:defRPr>
            </a:pPr>
            <a:r>
              <a:t>−73%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56235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3C5FD"/>
                </a:solidFill>
                <a:latin typeface="Calibri"/>
              </a:defRPr>
            </a:pPr>
            <a:r>
              <a:t>"Cooling emissions could triple by 2050. Or we cut them 73%."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6309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CoolProgress Dashboard  |  coolprogress.org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B4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463040" cy="320040"/>
          </a:xfrm>
          <a:prstGeom prst="roundRect">
            <a:avLst/>
          </a:prstGeom>
          <a:solidFill>
            <a:srgbClr val="1C173E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2120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084FC"/>
                </a:solidFill>
                <a:latin typeface="Calibri"/>
              </a:defRPr>
            </a:pPr>
            <a:r>
              <a:t>HOW WE BUILT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 as a Development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B5FD"/>
                </a:solidFill>
                <a:latin typeface="Calibri"/>
              </a:defRPr>
            </a:pPr>
            <a:r>
              <a:t>AI didn't replace the team — it amplified our capability, enabling one person to build what traditionally requires a multi-disciplinary squad.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502920" cy="502920"/>
          </a:xfrm>
          <a:prstGeom prst="roundRect">
            <a:avLst/>
          </a:prstGeom>
          <a:solidFill>
            <a:srgbClr val="29134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60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Architecture &amp;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5292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AI proposed the tech stack, component structure,</a:t>
            </a:r>
            <a:br/>
            <a:r>
              <a:t>and data model based on our requirements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11880"/>
            <a:ext cx="502920" cy="502920"/>
          </a:xfrm>
          <a:prstGeom prst="roundRect">
            <a:avLst/>
          </a:prstGeom>
          <a:solidFill>
            <a:srgbClr val="0C214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611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Full-Stack Code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90448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SvelteKit components, Supabase queries, ECharts</a:t>
            </a:r>
            <a:br/>
            <a:r>
              <a:t>visualizations, and Tailwind styling — all AI-assisted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63440"/>
            <a:ext cx="502920" cy="502920"/>
          </a:xfrm>
          <a:prstGeom prst="roundRect">
            <a:avLst/>
          </a:prstGeom>
          <a:solidFill>
            <a:srgbClr val="0B464F"/>
          </a:solidFill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09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663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 Pipeline &amp;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95604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150K+ records from 10+ partners ingested, transformed,</a:t>
            </a:r>
            <a:br/>
            <a:r>
              <a:t>and served via Supabase with pagination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715000"/>
            <a:ext cx="502920" cy="502920"/>
          </a:xfrm>
          <a:prstGeom prst="roundRect">
            <a:avLst/>
          </a:prstGeom>
          <a:solidFill>
            <a:srgbClr val="184A2A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715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Deployment &amp; Iteration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600760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Deployed on Cloudflare with rapid bug-fixing</a:t>
            </a:r>
            <a:br/>
            <a:r>
              <a:t>and feature iteration through AI pair-programming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457200"/>
            <a:ext cx="5760720" cy="3200400"/>
          </a:xfrm>
          <a:prstGeom prst="roundRect">
            <a:avLst/>
          </a:prstGeom>
          <a:solidFill>
            <a:srgbClr val="1E244A"/>
          </a:solidFill>
          <a:ln w="12700">
            <a:solidFill>
              <a:srgbClr val="2E2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5943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CA3AF"/>
                </a:solidFill>
                <a:latin typeface="Calibri"/>
              </a:defRPr>
            </a:pPr>
            <a:r>
              <a:t>DEVELOPMENT COMPARISON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914400"/>
            <a:ext cx="182880" cy="18288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9144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D1D5DB"/>
                </a:solidFill>
                <a:latin typeface="Calibri"/>
              </a:defRPr>
            </a:pPr>
            <a:r>
              <a:t>Traditional Team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914400"/>
            <a:ext cx="182880" cy="1828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9144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D1D5DB"/>
                </a:solidFill>
                <a:latin typeface="Calibri"/>
              </a:defRPr>
            </a:pPr>
            <a:r>
              <a:t>AI-Assisted (1 Person)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2984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D1D5DB"/>
                </a:solidFill>
                <a:latin typeface="Calibri"/>
              </a:defRPr>
            </a:pPr>
            <a:r>
              <a:t>Team Size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1280160"/>
            <a:ext cx="2011680" cy="256032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6680" y="12801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4–6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1280160"/>
            <a:ext cx="402336" cy="25603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02368" y="12801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18470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D1D5DB"/>
                </a:solidFill>
                <a:latin typeface="Calibri"/>
              </a:defRPr>
            </a:pPr>
            <a:r>
              <a:t>Time to MVP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1828800"/>
            <a:ext cx="2011680" cy="256032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80" y="18288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4–6 mo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1828800"/>
            <a:ext cx="502920" cy="25603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02368" y="182880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~6 wk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23957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D1D5DB"/>
                </a:solidFill>
                <a:latin typeface="Calibri"/>
              </a:defRPr>
            </a:pPr>
            <a:r>
              <a:t>Specializations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80960" y="2377440"/>
            <a:ext cx="2011680" cy="256032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26680" y="23774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5+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84080" y="2377440"/>
            <a:ext cx="402336" cy="25603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02368" y="237744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29443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D1D5DB"/>
                </a:solidFill>
                <a:latin typeface="Calibri"/>
              </a:defRPr>
            </a:pPr>
            <a:r>
              <a:t>Iterations/day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80960" y="2926080"/>
            <a:ext cx="603504" cy="256032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6680" y="2926080"/>
            <a:ext cx="6035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2–3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75904" y="2926080"/>
            <a:ext cx="2011680" cy="25603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94192" y="29260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10+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35040" y="3840480"/>
            <a:ext cx="5760720" cy="2834640"/>
          </a:xfrm>
          <a:prstGeom prst="roundRect">
            <a:avLst/>
          </a:prstGeom>
          <a:solidFill>
            <a:srgbClr val="1A153A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84FC"/>
                </a:solidFill>
                <a:latin typeface="Calibri"/>
              </a:defRPr>
            </a:pPr>
            <a:r>
              <a:t>WHAT THIS MEANS FOR US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438912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4370832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Rapid prototyping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459028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D1D5DB"/>
                </a:solidFill>
                <a:latin typeface="Calibri"/>
              </a:defRPr>
            </a:pPr>
            <a:r>
              <a:t>Turn data into stakeholder-ready</a:t>
            </a:r>
            <a:br/>
            <a:r>
              <a:t>dashboards in weeks, not months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493776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4919472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Domain experts lead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51389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D1D5DB"/>
                </a:solidFill>
                <a:latin typeface="Calibri"/>
              </a:defRPr>
            </a:pPr>
            <a:r>
              <a:t>Cooling specialists drive the product;</a:t>
            </a:r>
            <a:br/>
            <a:r>
              <a:t>AI handles the engineering complexity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54864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5468112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Scalable approach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0" y="56875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D1D5DB"/>
                </a:solidFill>
                <a:latin typeface="Calibri"/>
              </a:defRPr>
            </a:pPr>
            <a:r>
              <a:t>Same method applies to NDC tracking,</a:t>
            </a:r>
            <a:br/>
            <a:r>
              <a:t>policy analysis, and partner tools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603504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6016752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Lower barrier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62362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D1D5DB"/>
                </a:solidFill>
                <a:latin typeface="Calibri"/>
              </a:defRPr>
            </a:pPr>
            <a:r>
              <a:t>No large dev teams needed to ship</a:t>
            </a:r>
            <a:br/>
            <a:r>
              <a:t>production-quality analytical tools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309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CoolProgress Dashboard  |  Built with Claude AI + SvelteKit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