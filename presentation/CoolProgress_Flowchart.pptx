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7A33"/>
                </a:solidFill>
                <a:latin typeface="Arial"/>
              </a:defRPr>
            </a:pPr>
            <a:r>
              <a:t>FROM IDEA TO 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333333"/>
                </a:solidFill>
                <a:latin typeface="Arial"/>
              </a:defRPr>
            </a:pPr>
            <a:r>
              <a:t>Step-by-step workflow and tools used at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54864" cy="213969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828800"/>
            <a:ext cx="347472" cy="347472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8013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5B21B6"/>
                </a:solidFill>
                <a:latin typeface="Arial"/>
              </a:defRPr>
            </a:pPr>
            <a:r>
              <a:t>DEFINE THE</a:t>
            </a:r>
            <a:br/>
            <a: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What story should the</a:t>
            </a:r>
            <a:br/>
            <a:r>
              <a:t>dashboard tell? Which</a:t>
            </a:r>
            <a:br/>
            <a:r>
              <a:t>data, for whom?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965200" cy="219456"/>
          </a:xfrm>
          <a:prstGeom prst="roundRect">
            <a:avLst/>
          </a:prstGeom>
          <a:solidFill>
            <a:srgbClr val="EAE7EF"/>
          </a:solidFill>
          <a:ln w="6350">
            <a:solidFill>
              <a:srgbClr val="C6B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5B21B6"/>
                </a:solidFill>
                <a:latin typeface="Arial"/>
              </a:defRPr>
            </a:pPr>
            <a:r>
              <a:t>Your brain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91840"/>
            <a:ext cx="1437640" cy="219456"/>
          </a:xfrm>
          <a:prstGeom prst="roundRect">
            <a:avLst/>
          </a:prstGeom>
          <a:solidFill>
            <a:srgbClr val="EAE7EF"/>
          </a:solidFill>
          <a:ln w="6350">
            <a:solidFill>
              <a:srgbClr val="C6B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5B21B6"/>
                </a:solidFill>
                <a:latin typeface="Arial"/>
              </a:defRPr>
            </a:pPr>
            <a:r>
              <a:t>Domain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1358900" cy="219456"/>
          </a:xfrm>
          <a:prstGeom prst="roundRect">
            <a:avLst/>
          </a:prstGeom>
          <a:solidFill>
            <a:srgbClr val="EAE7EF"/>
          </a:solidFill>
          <a:ln w="6350">
            <a:solidFill>
              <a:srgbClr val="C6B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5B21B6"/>
                </a:solidFill>
                <a:latin typeface="Arial"/>
              </a:defRPr>
            </a:pPr>
            <a:r>
              <a:t>Partner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5B21B6"/>
                </a:solidFill>
                <a:latin typeface="Arial"/>
              </a:defRPr>
            </a:pPr>
            <a:r>
              <a:t>YOU decide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1178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3081528" y="274320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169164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764792"/>
            <a:ext cx="54864" cy="21396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712" y="1828800"/>
            <a:ext cx="347472" cy="347472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18013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1E40AF"/>
                </a:solidFill>
                <a:latin typeface="Arial"/>
              </a:defRPr>
            </a:pPr>
            <a:r>
              <a:t>SET UP</a:t>
            </a:r>
            <a:br/>
            <a:r>
              <a:t>TOOL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33172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Create accounts and</a:t>
            </a:r>
            <a:br/>
            <a:r>
              <a:t>connect the services</a:t>
            </a:r>
            <a:br/>
            <a:r>
              <a:t>that will run the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017520"/>
            <a:ext cx="965200" cy="219456"/>
          </a:xfrm>
          <a:prstGeom prst="roundRect">
            <a:avLst/>
          </a:prstGeom>
          <a:solidFill>
            <a:srgbClr val="E7E9EE"/>
          </a:solidFill>
          <a:ln w="6350">
            <a:solidFill>
              <a:srgbClr val="BAC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40AF"/>
                </a:solidFill>
                <a:latin typeface="Arial"/>
              </a:defRPr>
            </a:pPr>
            <a:r>
              <a:t>Claude 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3344" y="3017520"/>
            <a:ext cx="650240" cy="219456"/>
          </a:xfrm>
          <a:prstGeom prst="roundRect">
            <a:avLst/>
          </a:prstGeom>
          <a:solidFill>
            <a:srgbClr val="E7E9EE"/>
          </a:solidFill>
          <a:ln w="6350">
            <a:solidFill>
              <a:srgbClr val="BAC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40AF"/>
                </a:solidFill>
                <a:latin typeface="Arial"/>
              </a:defRPr>
            </a:pPr>
            <a:r>
              <a:t>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291840"/>
            <a:ext cx="807720" cy="219456"/>
          </a:xfrm>
          <a:prstGeom prst="roundRect">
            <a:avLst/>
          </a:prstGeom>
          <a:solidFill>
            <a:srgbClr val="E7E9EE"/>
          </a:solidFill>
          <a:ln w="6350">
            <a:solidFill>
              <a:srgbClr val="BAC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40AF"/>
                </a:solidFill>
                <a:latin typeface="Arial"/>
              </a:defRPr>
            </a:pPr>
            <a:r>
              <a:t>Supabase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5864" y="3291840"/>
            <a:ext cx="965200" cy="219456"/>
          </a:xfrm>
          <a:prstGeom prst="roundRect">
            <a:avLst/>
          </a:prstGeom>
          <a:solidFill>
            <a:srgbClr val="E7E9EE"/>
          </a:solidFill>
          <a:ln w="6350">
            <a:solidFill>
              <a:srgbClr val="BAC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40AF"/>
                </a:solidFill>
                <a:latin typeface="Arial"/>
              </a:defRPr>
            </a:pPr>
            <a:r>
              <a:t>Cloudflare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1E40AF"/>
                </a:solidFill>
                <a:latin typeface="Arial"/>
              </a:defRPr>
            </a:pPr>
            <a:r>
              <a:t>YOU + AI configure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81178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5779008" y="274320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0" y="169164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764792"/>
            <a:ext cx="54864" cy="21396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08192" y="1828800"/>
            <a:ext cx="347472" cy="347472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18013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65F46"/>
                </a:solidFill>
                <a:latin typeface="Arial"/>
              </a:defRPr>
            </a:pPr>
            <a:r>
              <a:t>DESIGN</a:t>
            </a:r>
            <a:br/>
            <a:r>
              <a:t>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233172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Prompt Claude to propose</a:t>
            </a:r>
            <a:br/>
            <a:r>
              <a:t>tech stack, page structure,</a:t>
            </a:r>
            <a:br/>
            <a:r>
              <a:t>and data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3017520"/>
            <a:ext cx="1516380" cy="219456"/>
          </a:xfrm>
          <a:prstGeom prst="roundRect">
            <a:avLst/>
          </a:prstGeom>
          <a:solidFill>
            <a:srgbClr val="E6EAE9"/>
          </a:solidFill>
          <a:ln w="6350">
            <a:solidFill>
              <a:srgbClr val="B5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65F46"/>
                </a:solidFill>
                <a:latin typeface="Arial"/>
              </a:defRPr>
            </a:pPr>
            <a:r>
              <a:t>Claude Code (CLI)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291840"/>
            <a:ext cx="807720" cy="219456"/>
          </a:xfrm>
          <a:prstGeom prst="roundRect">
            <a:avLst/>
          </a:prstGeom>
          <a:solidFill>
            <a:srgbClr val="E6EAE9"/>
          </a:solidFill>
          <a:ln w="6350">
            <a:solidFill>
              <a:srgbClr val="B5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65F46"/>
                </a:solidFill>
                <a:latin typeface="Arial"/>
              </a:defRPr>
            </a:pPr>
            <a:r>
              <a:t>Terminal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065F46"/>
                </a:solidFill>
                <a:latin typeface="Arial"/>
              </a:defRPr>
            </a:pPr>
            <a:r>
              <a:t>AI proposes, YOU approve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81178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8476488" y="274320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41080" y="169164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41080" y="1764792"/>
            <a:ext cx="54864" cy="213969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05672" y="1828800"/>
            <a:ext cx="347472" cy="347472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8" y="18013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92400E"/>
                </a:solidFill>
                <a:latin typeface="Arial"/>
              </a:defRPr>
            </a:pPr>
            <a:r>
              <a:t>PREPARE</a:t>
            </a:r>
            <a:br/>
            <a: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233172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Collect partner datasets,</a:t>
            </a:r>
            <a:br/>
            <a:r>
              <a:t>clean them, upload</a:t>
            </a:r>
            <a:br/>
            <a:r>
              <a:t>to the database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3017520"/>
            <a:ext cx="1043940" cy="219456"/>
          </a:xfrm>
          <a:prstGeom prst="roundRect">
            <a:avLst/>
          </a:prstGeom>
          <a:solidFill>
            <a:srgbClr val="EDE9E6"/>
          </a:solidFill>
          <a:ln w="6350">
            <a:solidFill>
              <a:srgbClr val="D1C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92400E"/>
                </a:solidFill>
                <a:latin typeface="Arial"/>
              </a:defRPr>
            </a:pPr>
            <a:r>
              <a:t>Excel / CSV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0" y="3291840"/>
            <a:ext cx="1043940" cy="219456"/>
          </a:xfrm>
          <a:prstGeom prst="roundRect">
            <a:avLst/>
          </a:prstGeom>
          <a:solidFill>
            <a:srgbClr val="EDE9E6"/>
          </a:solidFill>
          <a:ln w="6350">
            <a:solidFill>
              <a:srgbClr val="D1C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92400E"/>
                </a:solidFill>
                <a:latin typeface="Arial"/>
              </a:defRPr>
            </a:pPr>
            <a:r>
              <a:t>Supabase 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3566160"/>
            <a:ext cx="1043940" cy="219456"/>
          </a:xfrm>
          <a:prstGeom prst="roundRect">
            <a:avLst/>
          </a:prstGeom>
          <a:solidFill>
            <a:srgbClr val="EDE9E6"/>
          </a:solidFill>
          <a:ln w="6350">
            <a:solidFill>
              <a:srgbClr val="D1C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92400E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657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92400E"/>
                </a:solidFill>
                <a:latin typeface="Arial"/>
              </a:defRPr>
            </a:pPr>
            <a:r>
              <a:t>YOU source, AI transforms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25196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325112"/>
            <a:ext cx="54864" cy="2139696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3232" y="4389120"/>
            <a:ext cx="347472" cy="347472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43616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07A33"/>
                </a:solidFill>
                <a:latin typeface="Arial"/>
              </a:defRPr>
            </a:pPr>
            <a:r>
              <a:t>BUILD</a:t>
            </a:r>
            <a:br/>
            <a:r>
              <a:t>COMPONENTS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89204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Prompt Claude to generate</a:t>
            </a:r>
            <a:br/>
            <a:r>
              <a:t>pages, charts, maps,</a:t>
            </a:r>
            <a:br/>
            <a:r>
              <a:t>filters, and styling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577840"/>
            <a:ext cx="1043940" cy="219456"/>
          </a:xfrm>
          <a:prstGeom prst="roundRect">
            <a:avLst/>
          </a:prstGeom>
          <a:solidFill>
            <a:srgbClr val="E6ECE8"/>
          </a:solidFill>
          <a:ln w="6350">
            <a:solidFill>
              <a:srgbClr val="B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07A33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84604" y="5577840"/>
            <a:ext cx="886460" cy="219456"/>
          </a:xfrm>
          <a:prstGeom prst="roundRect">
            <a:avLst/>
          </a:prstGeom>
          <a:solidFill>
            <a:srgbClr val="E6ECE8"/>
          </a:solidFill>
          <a:ln w="6350">
            <a:solidFill>
              <a:srgbClr val="B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07A33"/>
                </a:solidFill>
                <a:latin typeface="Arial"/>
              </a:defRPr>
            </a:pPr>
            <a:r>
              <a:t>SvelteKit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852160"/>
            <a:ext cx="728980" cy="219456"/>
          </a:xfrm>
          <a:prstGeom prst="roundRect">
            <a:avLst/>
          </a:prstGeom>
          <a:solidFill>
            <a:srgbClr val="E6ECE8"/>
          </a:solidFill>
          <a:ln w="6350">
            <a:solidFill>
              <a:srgbClr val="B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07A33"/>
                </a:solidFill>
                <a:latin typeface="Arial"/>
              </a:defRPr>
            </a:pPr>
            <a:r>
              <a:t>ECharts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69644" y="5852160"/>
            <a:ext cx="571500" cy="219456"/>
          </a:xfrm>
          <a:prstGeom prst="roundRect">
            <a:avLst/>
          </a:prstGeom>
          <a:solidFill>
            <a:srgbClr val="E6ECE8"/>
          </a:solidFill>
          <a:ln w="6350">
            <a:solidFill>
              <a:srgbClr val="B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007A33"/>
                </a:solidFill>
                <a:latin typeface="Arial"/>
              </a:defRPr>
            </a:pPr>
            <a:r>
              <a:t>D3.js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217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007A33"/>
                </a:solidFill>
                <a:latin typeface="Arial"/>
              </a:defRPr>
            </a:pPr>
            <a:r>
              <a:t>AI writes, YOU review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37210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5400000">
            <a:off x="3081528" y="530352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246120" y="425196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46120" y="4325112"/>
            <a:ext cx="54864" cy="2139696"/>
          </a:xfrm>
          <a:prstGeom prst="rect">
            <a:avLst/>
          </a:prstGeom>
          <a:solidFill>
            <a:srgbClr val="B9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410712" y="4389120"/>
            <a:ext cx="347472" cy="347472"/>
          </a:xfrm>
          <a:prstGeom prst="ellipse">
            <a:avLst/>
          </a:prstGeom>
          <a:solidFill>
            <a:srgbClr val="B9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048" y="43616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B91818"/>
                </a:solidFill>
                <a:latin typeface="Arial"/>
              </a:defRPr>
            </a:pPr>
            <a:r>
              <a:t>TEST &amp;</a:t>
            </a:r>
            <a:br/>
            <a:r>
              <a:t>ITERATE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10712" y="489204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Run locally, check results,</a:t>
            </a:r>
            <a:br/>
            <a:r>
              <a:t>paste errors back to</a:t>
            </a:r>
            <a:br/>
            <a:r>
              <a:t>Claude, refine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83280" y="5577840"/>
            <a:ext cx="1673860" cy="219456"/>
          </a:xfrm>
          <a:prstGeom prst="roundRect">
            <a:avLst/>
          </a:prstGeom>
          <a:solidFill>
            <a:srgbClr val="EFE7E7"/>
          </a:solidFill>
          <a:ln w="6350">
            <a:solidFill>
              <a:srgbClr val="D9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B91818"/>
                </a:solidFill>
                <a:latin typeface="Arial"/>
              </a:defRPr>
            </a:pPr>
            <a:r>
              <a:t>Browser (localhost)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83280" y="5852160"/>
            <a:ext cx="1043940" cy="219456"/>
          </a:xfrm>
          <a:prstGeom prst="roundRect">
            <a:avLst/>
          </a:prstGeom>
          <a:solidFill>
            <a:srgbClr val="EFE7E7"/>
          </a:solidFill>
          <a:ln w="6350">
            <a:solidFill>
              <a:srgbClr val="D9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B91818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82084" y="5852160"/>
            <a:ext cx="807720" cy="219456"/>
          </a:xfrm>
          <a:prstGeom prst="roundRect">
            <a:avLst/>
          </a:prstGeom>
          <a:solidFill>
            <a:srgbClr val="EFE7E7"/>
          </a:solidFill>
          <a:ln w="6350">
            <a:solidFill>
              <a:srgbClr val="D9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B91818"/>
                </a:solidFill>
                <a:latin typeface="Arial"/>
              </a:defRPr>
            </a:pPr>
            <a:r>
              <a:t>Terminal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6217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B91818"/>
                </a:solidFill>
                <a:latin typeface="Arial"/>
              </a:defRPr>
            </a:pPr>
            <a:r>
              <a:t>YOU test, AI fixes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23560" y="537210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5400000">
            <a:off x="5779008" y="530352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943600" y="425196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43600" y="4325112"/>
            <a:ext cx="54864" cy="21396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108192" y="4389120"/>
            <a:ext cx="347472" cy="34747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43616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1E3A8A"/>
                </a:solidFill>
                <a:latin typeface="Arial"/>
              </a:defRPr>
            </a:pPr>
            <a:r>
              <a:t>DEPLOY</a:t>
            </a:r>
            <a:br/>
            <a:r>
              <a:t>TO WEB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08192" y="489204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Push code to GitHub →</a:t>
            </a:r>
            <a:br/>
            <a:r>
              <a:t>Cloudflare auto-builds</a:t>
            </a:r>
            <a:br/>
            <a:r>
              <a:t>and publishes the site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80760" y="5577840"/>
            <a:ext cx="807720" cy="219456"/>
          </a:xfrm>
          <a:prstGeom prst="roundRect">
            <a:avLst/>
          </a:prstGeom>
          <a:solidFill>
            <a:srgbClr val="E7E8EC"/>
          </a:solidFill>
          <a:ln w="6350">
            <a:solidFill>
              <a:srgbClr val="BAB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3A8A"/>
                </a:solidFill>
                <a:latin typeface="Arial"/>
              </a:defRPr>
            </a:pPr>
            <a:r>
              <a:t>Git push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3344" y="5577840"/>
            <a:ext cx="650240" cy="219456"/>
          </a:xfrm>
          <a:prstGeom prst="roundRect">
            <a:avLst/>
          </a:prstGeom>
          <a:solidFill>
            <a:srgbClr val="E7E8EC"/>
          </a:solidFill>
          <a:ln w="6350">
            <a:solidFill>
              <a:srgbClr val="BAB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3A8A"/>
                </a:solidFill>
                <a:latin typeface="Arial"/>
              </a:defRPr>
            </a:pPr>
            <a:r>
              <a:t>GitHub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80760" y="5852160"/>
            <a:ext cx="1437640" cy="219456"/>
          </a:xfrm>
          <a:prstGeom prst="roundRect">
            <a:avLst/>
          </a:prstGeom>
          <a:solidFill>
            <a:srgbClr val="E7E8EC"/>
          </a:solidFill>
          <a:ln w="6350">
            <a:solidFill>
              <a:srgbClr val="BAB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1E3A8A"/>
                </a:solidFill>
                <a:latin typeface="Arial"/>
              </a:defRPr>
            </a:pPr>
            <a:r>
              <a:t>Cloudflare Pages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6217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1E3A8A"/>
                </a:solidFill>
                <a:latin typeface="Arial"/>
              </a:defRPr>
            </a:pPr>
            <a:r>
              <a:t>Automated pipeline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5372100"/>
            <a:ext cx="210312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Isosceles Triangle 80"/>
          <p:cNvSpPr/>
          <p:nvPr/>
        </p:nvSpPr>
        <p:spPr>
          <a:xfrm rot="5400000">
            <a:off x="8476488" y="5303520"/>
            <a:ext cx="164592" cy="182880"/>
          </a:xfrm>
          <a:prstGeom prst="triangl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641080" y="425196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41080" y="4325112"/>
            <a:ext cx="54864" cy="21396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805672" y="438912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08008" y="436168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7C3AED"/>
                </a:solidFill>
                <a:latin typeface="Arial"/>
              </a:defRPr>
            </a:pPr>
            <a:r>
              <a:t>FEEDBACK</a:t>
            </a:r>
            <a:br/>
            <a:r>
              <a:t>&amp; IMPROVE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05672" y="4892040"/>
            <a:ext cx="20482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666666"/>
                </a:solidFill>
                <a:latin typeface="Arial"/>
              </a:defRPr>
            </a:pPr>
            <a:r>
              <a:t>Stakeholders review,</a:t>
            </a:r>
            <a:br/>
            <a:r>
              <a:t>request changes →</a:t>
            </a:r>
            <a:br/>
            <a:r>
              <a:t>back to step 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8240" y="5577840"/>
            <a:ext cx="1516380" cy="219456"/>
          </a:xfrm>
          <a:prstGeom prst="roundRect">
            <a:avLst/>
          </a:prstGeom>
          <a:solidFill>
            <a:srgbClr val="ECE8F1"/>
          </a:solidFill>
          <a:ln w="6350">
            <a:solidFill>
              <a:srgbClr val="CCB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7C3AED"/>
                </a:solidFill>
                <a:latin typeface="Arial"/>
              </a:defRPr>
            </a:pPr>
            <a:r>
              <a:t>Stakeholder input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778240" y="5852160"/>
            <a:ext cx="1043940" cy="219456"/>
          </a:xfrm>
          <a:prstGeom prst="roundRect">
            <a:avLst/>
          </a:prstGeom>
          <a:solidFill>
            <a:srgbClr val="ECE8F1"/>
          </a:solidFill>
          <a:ln w="6350">
            <a:solidFill>
              <a:srgbClr val="CCB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7C3AED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77044" y="5852160"/>
            <a:ext cx="650240" cy="219456"/>
          </a:xfrm>
          <a:prstGeom prst="roundRect">
            <a:avLst/>
          </a:prstGeom>
          <a:solidFill>
            <a:srgbClr val="ECE8F1"/>
          </a:solidFill>
          <a:ln w="6350">
            <a:solidFill>
              <a:srgbClr val="CCB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750" b="1">
                <a:solidFill>
                  <a:srgbClr val="7C3AED"/>
                </a:solidFill>
                <a:latin typeface="Arial"/>
              </a:defRPr>
            </a:pPr>
            <a:r>
              <a:t>Repeat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78240" y="6217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1">
                <a:solidFill>
                  <a:srgbClr val="7C3AED"/>
                </a:solidFill>
                <a:latin typeface="Arial"/>
              </a:defRPr>
            </a:pPr>
            <a:r>
              <a:t>Continuous loop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18520" y="2811780"/>
            <a:ext cx="137160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132820" y="3749040"/>
            <a:ext cx="45720" cy="7315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100816" y="2779776"/>
            <a:ext cx="109728" cy="109728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100816" y="5340096"/>
            <a:ext cx="109728" cy="109728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18520" y="5372100"/>
            <a:ext cx="137160" cy="457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37360" y="6647688"/>
            <a:ext cx="8092440" cy="36576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811512" y="6537960"/>
            <a:ext cx="36576" cy="109728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19072" y="6647688"/>
            <a:ext cx="36576" cy="914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Isosceles Triangle 98"/>
          <p:cNvSpPr/>
          <p:nvPr/>
        </p:nvSpPr>
        <p:spPr>
          <a:xfrm>
            <a:off x="1609344" y="6537960"/>
            <a:ext cx="137160" cy="137160"/>
          </a:xfrm>
          <a:prstGeom prst="triangle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94560" y="644652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 i="1">
                <a:solidFill>
                  <a:srgbClr val="D95319"/>
                </a:solidFill>
                <a:latin typeface="Arial"/>
              </a:defRPr>
            </a:pPr>
            <a:r>
              <a:t>Feedback loop — stakeholders review → back to building &amp; iterating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Arial"/>
              </a:defRPr>
            </a:pPr>
            <a:r>
              <a:t>AI deployment strategy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75520" y="63550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7A33"/>
                </a:solidFill>
                <a:latin typeface="Arial"/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